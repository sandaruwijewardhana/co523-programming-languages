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Facts, Rules, Inference &amp; Logical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CO528 Lec11 E20</a:t>
            </a:r>
            <a:endParaRPr dirty="0"/>
          </a:p>
          <a:p>
            <a:r>
              <a:rPr dirty="0"/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Define facts and rules</a:t>
            </a:r>
          </a:p>
          <a:p>
            <a:pPr marL="0" indent="0">
              <a:buNone/>
            </a:pPr>
            <a:r>
              <a:rPr dirty="0"/>
              <a:t>• Explain logical inference</a:t>
            </a:r>
          </a:p>
          <a:p>
            <a:pPr marL="0" indent="0">
              <a:buNone/>
            </a:pPr>
            <a:r>
              <a:rPr dirty="0"/>
              <a:t>• Differentiate declarative vs procedural programming</a:t>
            </a:r>
          </a:p>
          <a:p>
            <a:pPr marL="0" indent="0">
              <a:buNone/>
            </a:pPr>
            <a:r>
              <a:rPr dirty="0"/>
              <a:t>• Implement simple logic programs</a:t>
            </a:r>
          </a:p>
          <a:p>
            <a:pPr marL="0" indent="0">
              <a:buNone/>
            </a:pPr>
            <a:r>
              <a:rPr dirty="0"/>
              <a:t>• Apply reasoning to engineering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Logical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Expert systems reasoning</a:t>
            </a:r>
          </a:p>
          <a:p>
            <a:pPr marL="0" indent="0">
              <a:buNone/>
            </a:pPr>
            <a:r>
              <a:rPr dirty="0"/>
              <a:t>• AI inference engines</a:t>
            </a:r>
          </a:p>
          <a:p>
            <a:pPr marL="0" indent="0">
              <a:buNone/>
            </a:pPr>
            <a:r>
              <a:rPr dirty="0"/>
              <a:t>• Policy engines</a:t>
            </a:r>
          </a:p>
          <a:p>
            <a:pPr marL="0" indent="0">
              <a:buNone/>
            </a:pPr>
            <a:r>
              <a:rPr dirty="0"/>
              <a:t>• Authorization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Medical Diagnosis System:</a:t>
            </a:r>
          </a:p>
          <a:p>
            <a:pPr marL="0" indent="0">
              <a:buNone/>
            </a:pPr>
            <a:r>
              <a:t>• fever</a:t>
            </a:r>
          </a:p>
          <a:p>
            <a:pPr marL="0" indent="0">
              <a:buNone/>
            </a:pPr>
            <a:r>
              <a:t>• cough</a:t>
            </a:r>
          </a:p>
          <a:p>
            <a:pPr marL="0" indent="0">
              <a:buNone/>
            </a:pPr>
            <a:r>
              <a:t>• Rule-based diagnosis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Imperative / Procedural</a:t>
            </a:r>
          </a:p>
          <a:p>
            <a:pPr marL="0" indent="0">
              <a:buNone/>
            </a:pPr>
            <a:r>
              <a:rPr dirty="0"/>
              <a:t>• Declarative / Logical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C, Java, Python</a:t>
            </a:r>
          </a:p>
          <a:p>
            <a:pPr marL="0" indent="0">
              <a:buNone/>
            </a:pPr>
            <a:r>
              <a:rPr dirty="0"/>
              <a:t>• Step-by-step execution</a:t>
            </a:r>
          </a:p>
          <a:p>
            <a:pPr marL="0" indent="0">
              <a:buNone/>
            </a:pPr>
            <a:r>
              <a:rPr dirty="0"/>
              <a:t>• Control flow based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on what is true</a:t>
            </a:r>
          </a:p>
          <a:p>
            <a:pPr marL="0" indent="0">
              <a:buNone/>
            </a:pPr>
            <a:r>
              <a:rPr dirty="0"/>
              <a:t>• Define relationships</a:t>
            </a:r>
          </a:p>
          <a:p>
            <a:pPr marL="0" indent="0">
              <a:buNone/>
            </a:pPr>
            <a:r>
              <a:rPr dirty="0"/>
              <a:t>• System infers solution</a:t>
            </a:r>
          </a:p>
          <a:p>
            <a:pPr marL="0" indent="0">
              <a:buNone/>
            </a:pPr>
            <a:r>
              <a:rPr dirty="0"/>
              <a:t>• Example: Prolog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Logical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Based on Predicate Logic</a:t>
            </a:r>
          </a:p>
          <a:p>
            <a:pPr marL="0" indent="0">
              <a:buNone/>
            </a:pPr>
            <a:r>
              <a:t>• Knowledge = Facts + Rules</a:t>
            </a:r>
          </a:p>
          <a:p>
            <a:pPr marL="0" indent="0">
              <a:buNone/>
            </a:pPr>
            <a:r>
              <a:t>• Computation =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 statement that is unconditionally true</a:t>
            </a:r>
          </a:p>
          <a:p>
            <a:pPr marL="0" indent="0">
              <a:buNone/>
            </a:pPr>
            <a:r>
              <a:t>• Represents stored knowledge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parent(john, mary).</a:t>
            </a:r>
          </a:p>
          <a:p>
            <a:r>
              <a:t>parent(mary, alice).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John is parent of Mary</a:t>
            </a:r>
          </a:p>
          <a:p>
            <a:pPr marL="0" indent="0">
              <a:buNone/>
            </a:pPr>
            <a:r>
              <a:rPr dirty="0"/>
              <a:t>• Mary is parent of Alice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Facts in Engineering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service_running</a:t>
            </a:r>
            <a:r>
              <a:rPr dirty="0"/>
              <a:t>(</a:t>
            </a:r>
            <a:r>
              <a:rPr dirty="0" err="1"/>
              <a:t>payment_service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user_authenticated</a:t>
            </a:r>
            <a:r>
              <a:rPr dirty="0"/>
              <a:t>(</a:t>
            </a:r>
            <a:r>
              <a:rPr dirty="0" err="1"/>
              <a:t>amal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node_active</a:t>
            </a:r>
            <a:r>
              <a:rPr dirty="0"/>
              <a:t>(node1)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Collection of facts</a:t>
            </a:r>
          </a:p>
          <a:p>
            <a:pPr marL="0" indent="0">
              <a:buNone/>
            </a:pPr>
            <a:r>
              <a:t>• Represents stored truths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:- Body.</a:t>
            </a:r>
          </a:p>
          <a:p>
            <a:r>
              <a:t>Head is true if Body is true.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grandparent(X,Y) :-</a:t>
            </a:r>
          </a:p>
          <a:p>
            <a:r>
              <a:t> parent(X,Z),</a:t>
            </a:r>
          </a:p>
          <a:p>
            <a:r>
              <a:t> parent(Z,Y).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Rule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X is grandparent of Y</a:t>
            </a:r>
          </a:p>
          <a:p>
            <a:pPr marL="0" indent="0">
              <a:buNone/>
            </a:pPr>
            <a:r>
              <a:t>• If X parent of Z</a:t>
            </a:r>
          </a:p>
          <a:p>
            <a:pPr marL="0" indent="0">
              <a:buNone/>
            </a:pPr>
            <a:r>
              <a:t>• And Z parent of 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Enable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Facts = knowledge</a:t>
            </a:r>
          </a:p>
          <a:p>
            <a:pPr marL="0" indent="0">
              <a:buNone/>
            </a:pPr>
            <a:r>
              <a:rPr dirty="0"/>
              <a:t>• Rules = derivation</a:t>
            </a:r>
          </a:p>
          <a:p>
            <a:pPr marL="0" indent="0">
              <a:buNone/>
            </a:pPr>
            <a:r>
              <a:rPr dirty="0"/>
              <a:t>• Enables inference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Example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eligible(User) :-</a:t>
            </a:r>
          </a:p>
          <a:p>
            <a:r>
              <a:t> authenticated(User),</a:t>
            </a:r>
          </a:p>
          <a:p>
            <a:r>
              <a:t> has_permission(User).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Deriving new facts</a:t>
            </a:r>
          </a:p>
          <a:p>
            <a:pPr marL="0" indent="0">
              <a:buNone/>
            </a:pPr>
            <a:r>
              <a:t>• Based on facts + 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Forward Chaining</a:t>
            </a:r>
          </a:p>
          <a:p>
            <a:pPr marL="0" indent="0">
              <a:buNone/>
            </a:pPr>
            <a:r>
              <a:t>• Backward Chaining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Data-driven</a:t>
            </a:r>
          </a:p>
          <a:p>
            <a:pPr marL="0" indent="0">
              <a:buNone/>
            </a:pPr>
            <a:r>
              <a:t>• Start with facts</a:t>
            </a:r>
          </a:p>
          <a:p>
            <a:pPr marL="0" indent="0">
              <a:buNone/>
            </a:pPr>
            <a:r>
              <a:t>• Apply rules</a:t>
            </a:r>
          </a:p>
          <a:p>
            <a:pPr marL="0" indent="0">
              <a:buNone/>
            </a:pPr>
            <a:r>
              <a:t>• Generate conclusions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Goal-driven</a:t>
            </a:r>
          </a:p>
          <a:p>
            <a:pPr marL="0" indent="0">
              <a:buNone/>
            </a:pPr>
            <a:r>
              <a:t>• Start with query</a:t>
            </a:r>
          </a:p>
          <a:p>
            <a:pPr marL="0" indent="0">
              <a:buNone/>
            </a:pPr>
            <a:r>
              <a:t>• Work backward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?- grandparent(john, alice).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Match rule</a:t>
            </a:r>
          </a:p>
          <a:p>
            <a:pPr marL="0" indent="0">
              <a:buNone/>
            </a:pPr>
            <a:r>
              <a:rPr dirty="0"/>
              <a:t>2. Substitute variable</a:t>
            </a:r>
          </a:p>
          <a:p>
            <a:pPr marL="0" indent="0">
              <a:buNone/>
            </a:pPr>
            <a:r>
              <a:rPr dirty="0"/>
              <a:t>3. Check supporting facts</a:t>
            </a:r>
          </a:p>
          <a:p>
            <a:pPr marL="0" indent="0">
              <a:buNone/>
            </a:pPr>
            <a:r>
              <a:rPr dirty="0"/>
              <a:t>4. Return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Pattern matching</a:t>
            </a:r>
          </a:p>
          <a:p>
            <a:pPr marL="0" indent="0">
              <a:buNone/>
            </a:pPr>
            <a:r>
              <a:t>• Match variables with values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parent(john, </a:t>
            </a:r>
            <a:r>
              <a:rPr dirty="0" err="1"/>
              <a:t>mary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parent(john, bob).</a:t>
            </a:r>
          </a:p>
          <a:p>
            <a:pPr marL="0" indent="0">
              <a:buNone/>
            </a:pPr>
            <a:r>
              <a:rPr dirty="0"/>
              <a:t>?- parent(john, X).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Variables: Uppercase</a:t>
            </a:r>
          </a:p>
          <a:p>
            <a:pPr marL="0" indent="0">
              <a:buNone/>
            </a:pPr>
            <a:r>
              <a:rPr dirty="0"/>
              <a:t>• Atoms: lowercase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ancestor(X,Y) :- parent(X,Y).</a:t>
            </a:r>
          </a:p>
          <a:p>
            <a:pPr marL="0" indent="0">
              <a:buNone/>
            </a:pPr>
            <a:r>
              <a:rPr dirty="0"/>
              <a:t>ancestor(X,Y) :- parent(X,Z), ancestor(Z,Y).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Recursion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Graph traversal</a:t>
            </a:r>
          </a:p>
          <a:p>
            <a:pPr marL="0" indent="0">
              <a:buNone/>
            </a:pPr>
            <a:r>
              <a:rPr dirty="0"/>
              <a:t>• Dependency resolution</a:t>
            </a:r>
          </a:p>
          <a:p>
            <a:pPr marL="0" indent="0">
              <a:buNone/>
            </a:pPr>
            <a:r>
              <a:rPr dirty="0"/>
              <a:t>• Service chains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Programming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Expert systems</a:t>
            </a:r>
          </a:p>
          <a:p>
            <a:pPr marL="0" indent="0">
              <a:buNone/>
            </a:pPr>
            <a:r>
              <a:rPr dirty="0"/>
              <a:t>• Knowledge representation</a:t>
            </a:r>
          </a:p>
          <a:p>
            <a:pPr marL="0" indent="0">
              <a:buNone/>
            </a:pPr>
            <a:r>
              <a:rPr dirty="0"/>
              <a:t>• Planning systems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Engines in Cloud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Policy enforcement</a:t>
            </a:r>
          </a:p>
          <a:p>
            <a:pPr marL="0" indent="0">
              <a:buNone/>
            </a:pPr>
            <a:r>
              <a:rPr dirty="0"/>
              <a:t>• Access control</a:t>
            </a:r>
          </a:p>
          <a:p>
            <a:pPr marL="0" indent="0">
              <a:buNone/>
            </a:pPr>
            <a:r>
              <a:rPr dirty="0"/>
              <a:t>• Distributed systems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allow(User) :- authenticated(User), role(User, admin).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Scale if load high</a:t>
            </a:r>
          </a:p>
          <a:p>
            <a:pPr marL="0" indent="0">
              <a:buNone/>
            </a:pPr>
            <a:r>
              <a:rPr dirty="0"/>
              <a:t>• Failover if node fails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Declarative clarity</a:t>
            </a:r>
          </a:p>
          <a:p>
            <a:pPr marL="0" indent="0">
              <a:buNone/>
            </a:pPr>
            <a:r>
              <a:rPr dirty="0"/>
              <a:t>• Natural knowledge representation</a:t>
            </a:r>
          </a:p>
          <a:p>
            <a:pPr marL="0" indent="0">
              <a:buNone/>
            </a:pPr>
            <a:r>
              <a:rPr dirty="0"/>
              <a:t>• Good for reasoning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Performance issues</a:t>
            </a:r>
          </a:p>
          <a:p>
            <a:pPr marL="0" indent="0">
              <a:buNone/>
            </a:pPr>
            <a:r>
              <a:rPr dirty="0"/>
              <a:t>• Complex inference</a:t>
            </a:r>
          </a:p>
          <a:p>
            <a:pPr marL="0" indent="0">
              <a:buNone/>
            </a:pPr>
            <a:r>
              <a:rPr dirty="0"/>
              <a:t>• Debugging recursion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Declarative reasoning vs distributed services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university system using facts and rules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Is student eligible?</a:t>
            </a:r>
          </a:p>
          <a:p>
            <a:pPr marL="0" indent="0">
              <a:buNone/>
            </a:pPr>
            <a:r>
              <a:rPr dirty="0"/>
              <a:t>• Multiple prerequisites?</a:t>
            </a:r>
          </a:p>
          <a:p>
            <a:pPr marL="0" indent="0">
              <a:buNone/>
            </a:pPr>
            <a:r>
              <a:rPr dirty="0"/>
              <a:t>• Extend rule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 knowledge base?</a:t>
            </a:r>
          </a:p>
          <a:p>
            <a:pPr marL="0" indent="0">
              <a:buNone/>
            </a:pPr>
            <a:r>
              <a:rPr dirty="0"/>
              <a:t>• Bottlenecks?</a:t>
            </a:r>
          </a:p>
          <a:p>
            <a:pPr marL="0" indent="0">
              <a:buNone/>
            </a:pPr>
            <a:r>
              <a:rPr dirty="0"/>
              <a:t>• Compare to SQL?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Facts</a:t>
            </a:r>
          </a:p>
          <a:p>
            <a:pPr marL="0" indent="0">
              <a:buNone/>
            </a:pPr>
            <a:r>
              <a:t>• Rules</a:t>
            </a:r>
          </a:p>
          <a:p>
            <a:pPr marL="0" indent="0">
              <a:buNone/>
            </a:pPr>
            <a:r>
              <a:t>• Inference</a:t>
            </a:r>
          </a:p>
          <a:p>
            <a:pPr marL="0" indent="0">
              <a:buNone/>
            </a:pPr>
            <a:r>
              <a:t>• Unification</a:t>
            </a:r>
          </a:p>
          <a:p>
            <a:pPr marL="0" indent="0">
              <a:buNone/>
            </a:pPr>
            <a:r>
              <a:t>• Recursion</a:t>
            </a:r>
          </a:p>
          <a:p>
            <a:pPr marL="0" indent="0">
              <a:buNone/>
            </a:pPr>
            <a:r>
              <a:t>•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619</Words>
  <Application>Microsoft Macintosh PowerPoint</Application>
  <PresentationFormat>On-screen Show (4:3)</PresentationFormat>
  <Paragraphs>149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Facts, Rules, Inference &amp; Logical Programming</vt:lpstr>
      <vt:lpstr>Learning Outcomes</vt:lpstr>
      <vt:lpstr>Why Logical Programming?</vt:lpstr>
      <vt:lpstr>Motivation Example</vt:lpstr>
      <vt:lpstr>Programming Paradigms</vt:lpstr>
      <vt:lpstr>Procedural Programming</vt:lpstr>
      <vt:lpstr>Declarative Programming</vt:lpstr>
      <vt:lpstr>What is Logical Programming?</vt:lpstr>
      <vt:lpstr>What is a Fact?</vt:lpstr>
      <vt:lpstr>Fact Syntax</vt:lpstr>
      <vt:lpstr>Meaning of Facts</vt:lpstr>
      <vt:lpstr>Facts in Engineering Systems</vt:lpstr>
      <vt:lpstr>Knowledge Base</vt:lpstr>
      <vt:lpstr>What is a Rule?</vt:lpstr>
      <vt:lpstr>Rule Example</vt:lpstr>
      <vt:lpstr>Understanding Rule Logic</vt:lpstr>
      <vt:lpstr>Rules Enable Derivation</vt:lpstr>
      <vt:lpstr>Engineering Example Rule</vt:lpstr>
      <vt:lpstr>What is Inference?</vt:lpstr>
      <vt:lpstr>Types of Inference</vt:lpstr>
      <vt:lpstr>Forward Chaining</vt:lpstr>
      <vt:lpstr>Backward Chaining</vt:lpstr>
      <vt:lpstr>Example Query</vt:lpstr>
      <vt:lpstr>Inference Steps</vt:lpstr>
      <vt:lpstr>What is Unification?</vt:lpstr>
      <vt:lpstr>Unification Example</vt:lpstr>
      <vt:lpstr>Variable Binding</vt:lpstr>
      <vt:lpstr>Recursive Rule</vt:lpstr>
      <vt:lpstr>Why Recursion Matters</vt:lpstr>
      <vt:lpstr>Logical Programming in AI</vt:lpstr>
      <vt:lpstr>Rule Engines in Cloud Systems</vt:lpstr>
      <vt:lpstr>Access Control Example</vt:lpstr>
      <vt:lpstr>Configuration Management</vt:lpstr>
      <vt:lpstr>Advantages</vt:lpstr>
      <vt:lpstr>Limitations</vt:lpstr>
      <vt:lpstr>Logical vs Microservices</vt:lpstr>
      <vt:lpstr>Mini Activity</vt:lpstr>
      <vt:lpstr>Activity Questions</vt:lpstr>
      <vt:lpstr>Critical Thinking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Biswajith Dissanayake</cp:lastModifiedBy>
  <cp:revision>2</cp:revision>
  <dcterms:created xsi:type="dcterms:W3CDTF">2013-01-27T09:14:16Z</dcterms:created>
  <dcterms:modified xsi:type="dcterms:W3CDTF">2026-02-23T15:37:31Z</dcterms:modified>
  <cp:category/>
</cp:coreProperties>
</file>